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3B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828800"/>
            <a:ext cx="106984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</a:rPr>
              <a:t>SwiftRoute</a:t>
            </a:r>
          </a:p>
          <a:p>
            <a:pPr algn="ctr">
              <a:spcBef>
                <a:spcPts val="1000"/>
              </a:spcBef>
            </a:pPr>
            <a:r>
              <a:rPr sz="2000">
                <a:solidFill>
                  <a:srgbClr val="CFDDEC"/>
                </a:solidFill>
              </a:rPr>
              <a:t>AI-Assisted Logistics &amp; Parcel Delivery Platform</a:t>
            </a:r>
          </a:p>
          <a:p>
            <a:pPr algn="ctr">
              <a:spcBef>
                <a:spcPts val="1000"/>
              </a:spcBef>
            </a:pPr>
            <a:r>
              <a:rPr sz="2000">
                <a:solidFill>
                  <a:srgbClr val="CFDDEC"/>
                </a:solidFill>
              </a:rPr>
              <a:t>Graduation Project — inspired by Bosta &amp; DHL</a:t>
            </a:r>
          </a:p>
          <a:p>
            <a:pPr algn="ctr">
              <a:spcBef>
                <a:spcPts val="1000"/>
              </a:spcBef>
            </a:pPr>
            <a:r>
              <a:rPr sz="2000">
                <a:solidFill>
                  <a:srgbClr val="CFDDEC"/>
                </a:solidFill>
              </a:rPr>
              <a:t>Built with Python, Flask, SQLAlchemy &amp; Leaflet</a:t>
            </a:r>
          </a:p>
        </p:txBody>
      </p:sp>
      <p:sp>
        <p:nvSpPr>
          <p:cNvPr id="3" name="Rectangle 2"/>
          <p:cNvSpPr/>
          <p:nvPr/>
        </p:nvSpPr>
        <p:spPr>
          <a:xfrm>
            <a:off x="4937760" y="1554480"/>
            <a:ext cx="2286000" cy="73152"/>
          </a:xfrm>
          <a:prstGeom prst="rect">
            <a:avLst/>
          </a:prstGeom>
          <a:solidFill>
            <a:srgbClr val="EE6C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/>
          <a:lstStyle/>
          <a:p>
            <a:pPr algn="ctr"/>
            <a:r>
              <a:rPr sz="3000" b="1">
                <a:solidFill>
                  <a:srgbClr val="FFFFFF"/>
                </a:solidFill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554480"/>
            <a:ext cx="10515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000" b="1">
                <a:solidFill>
                  <a:srgbClr val="EE6C4D"/>
                </a:solidFill>
              </a:rPr>
              <a:t>▸  </a:t>
            </a:r>
            <a:r>
              <a:rPr sz="2000">
                <a:solidFill>
                  <a:srgbClr val="1F2933"/>
                </a:solidFill>
              </a:rPr>
              <a:t>E-commerce is booming; last-mile delivery is the bottleneck.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EE6C4D"/>
                </a:solidFill>
              </a:rPr>
              <a:t>▸  </a:t>
            </a:r>
            <a:r>
              <a:rPr sz="2000">
                <a:solidFill>
                  <a:srgbClr val="1F2933"/>
                </a:solidFill>
              </a:rPr>
              <a:t>Manual courier dispatch is slow, uneven and error-prone.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EE6C4D"/>
                </a:solidFill>
              </a:rPr>
              <a:t>▸  </a:t>
            </a:r>
            <a:r>
              <a:rPr sz="2000">
                <a:solidFill>
                  <a:srgbClr val="1F2933"/>
                </a:solidFill>
              </a:rPr>
              <a:t>Customers expect real-time visibility: “where is my parcel?”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EE6C4D"/>
                </a:solidFill>
              </a:rPr>
              <a:t>▸  </a:t>
            </a:r>
            <a:r>
              <a:rPr sz="2000">
                <a:solidFill>
                  <a:srgbClr val="1F2933"/>
                </a:solidFill>
              </a:rPr>
              <a:t>Operations teams lack tools to plan and monitor the fleet.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/>
          <a:lstStyle/>
          <a:p>
            <a:pPr algn="ctr"/>
            <a:r>
              <a:rPr sz="3000" b="1">
                <a:solidFill>
                  <a:srgbClr val="FFFFFF"/>
                </a:solidFill>
              </a:rPr>
              <a:t>Project Goal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554480"/>
            <a:ext cx="10515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000" b="1">
                <a:solidFill>
                  <a:srgbClr val="EE6C4D"/>
                </a:solidFill>
              </a:rPr>
              <a:t>▸  </a:t>
            </a:r>
            <a:r>
              <a:rPr sz="2000">
                <a:solidFill>
                  <a:srgbClr val="1F2933"/>
                </a:solidFill>
              </a:rPr>
              <a:t>Deliver a complete, real-world system — not a prototype.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EE6C4D"/>
                </a:solidFill>
              </a:rPr>
              <a:t>▸  </a:t>
            </a:r>
            <a:r>
              <a:rPr sz="2000">
                <a:solidFill>
                  <a:srgbClr val="1F2933"/>
                </a:solidFill>
              </a:rPr>
              <a:t>Merchants ship → AI plans routes → couriers deliver → customers track.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EE6C4D"/>
                </a:solidFill>
              </a:rPr>
              <a:t>▸  </a:t>
            </a:r>
            <a:r>
              <a:rPr sz="2000">
                <a:solidFill>
                  <a:srgbClr val="1F2933"/>
                </a:solidFill>
              </a:rPr>
              <a:t>Python-first, web-based, and runnable on any machine.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EE6C4D"/>
                </a:solidFill>
              </a:rPr>
              <a:t>▸  </a:t>
            </a:r>
            <a:r>
              <a:rPr sz="2000">
                <a:solidFill>
                  <a:srgbClr val="1F2933"/>
                </a:solidFill>
              </a:rPr>
              <a:t>Database-agnostic: SQLite out of the box, PostgreSQL for production.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/>
          <a:lstStyle/>
          <a:p>
            <a:pPr algn="ctr"/>
            <a:r>
              <a:rPr sz="3000" b="1">
                <a:solidFill>
                  <a:srgbClr val="FFFFFF"/>
                </a:solidFill>
              </a:rPr>
              <a:t>Inspiration: Bosta &amp; DHL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554480"/>
            <a:ext cx="10515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000" b="1">
                <a:solidFill>
                  <a:srgbClr val="EE6C4D"/>
                </a:solidFill>
              </a:rPr>
              <a:t>▸  </a:t>
            </a:r>
            <a:r>
              <a:rPr sz="2000">
                <a:solidFill>
                  <a:srgbClr val="1F2933"/>
                </a:solidFill>
              </a:rPr>
              <a:t>Bosta: merchant onboarding, cash-on-delivery, status timeline, courier app.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EE6C4D"/>
                </a:solidFill>
              </a:rPr>
              <a:t>▸  </a:t>
            </a:r>
            <a:r>
              <a:rPr sz="2000">
                <a:solidFill>
                  <a:srgbClr val="1F2933"/>
                </a:solidFill>
              </a:rPr>
              <a:t>DHL: hub-and-spoke network, tracking numbers, proof of delivery.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EE6C4D"/>
                </a:solidFill>
              </a:rPr>
              <a:t>▸  </a:t>
            </a:r>
            <a:r>
              <a:rPr sz="2000">
                <a:solidFill>
                  <a:srgbClr val="1F2933"/>
                </a:solidFill>
              </a:rPr>
              <a:t>We replicate these core ideas at graduation-project scale.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/>
          <a:lstStyle/>
          <a:p>
            <a:pPr algn="ctr"/>
            <a:r>
              <a:rPr sz="3000" b="1">
                <a:solidFill>
                  <a:srgbClr val="FFFFFF"/>
                </a:solidFill>
              </a:rPr>
              <a:t>System 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554480"/>
            <a:ext cx="10515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000" b="1">
                <a:solidFill>
                  <a:srgbClr val="EE6C4D"/>
                </a:solidFill>
              </a:rPr>
              <a:t>▸  </a:t>
            </a:r>
            <a:r>
              <a:rPr sz="2000">
                <a:solidFill>
                  <a:srgbClr val="1F2933"/>
                </a:solidFill>
              </a:rPr>
              <a:t>Four actors: Admin, Courier, Merchant, Public customer.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EE6C4D"/>
                </a:solidFill>
              </a:rPr>
              <a:t>▸  </a:t>
            </a:r>
            <a:r>
              <a:rPr sz="2000">
                <a:solidFill>
                  <a:srgbClr val="1F2933"/>
                </a:solidFill>
              </a:rPr>
              <a:t>Flow: Hub → Optimise → Courier → Delivery → Tracking.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EE6C4D"/>
                </a:solidFill>
              </a:rPr>
              <a:t>▸  </a:t>
            </a:r>
            <a:r>
              <a:rPr sz="2000">
                <a:solidFill>
                  <a:srgbClr val="1F2933"/>
                </a:solidFill>
              </a:rPr>
              <a:t>One Flask application with role-based portals and a JSON API.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/>
          <a:lstStyle/>
          <a:p>
            <a:pPr algn="ctr"/>
            <a:r>
              <a:rPr sz="3000" b="1">
                <a:solidFill>
                  <a:srgbClr val="FFFFFF"/>
                </a:solidFill>
              </a:rPr>
              <a:t>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554480"/>
            <a:ext cx="10515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000" b="1">
                <a:solidFill>
                  <a:srgbClr val="EE6C4D"/>
                </a:solidFill>
              </a:rPr>
              <a:t>▸  </a:t>
            </a:r>
            <a:r>
              <a:rPr sz="2000">
                <a:solidFill>
                  <a:srgbClr val="1F2933"/>
                </a:solidFill>
              </a:rPr>
              <a:t>Application factory + blueprints (auth, admin, courier, merchant, tracking, api).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EE6C4D"/>
                </a:solidFill>
              </a:rPr>
              <a:t>▸  </a:t>
            </a:r>
            <a:r>
              <a:rPr sz="2000">
                <a:solidFill>
                  <a:srgbClr val="1F2933"/>
                </a:solidFill>
              </a:rPr>
              <a:t>SQLAlchemy ORM; SQLite by default, PostgreSQL via one env variable.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EE6C4D"/>
                </a:solidFill>
              </a:rPr>
              <a:t>▸  </a:t>
            </a:r>
            <a:r>
              <a:rPr sz="2000">
                <a:solidFill>
                  <a:srgbClr val="1F2933"/>
                </a:solidFill>
              </a:rPr>
              <a:t>Front-end: Jinja2 + Bootstrap 5 + Leaflet maps + Chart.js.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EE6C4D"/>
                </a:solidFill>
              </a:rPr>
              <a:t>▸  </a:t>
            </a:r>
            <a:r>
              <a:rPr sz="2000">
                <a:solidFill>
                  <a:srgbClr val="1F2933"/>
                </a:solidFill>
              </a:rPr>
              <a:t>psycopg3 driver for modern Python; Docker Compose for Postgres.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/>
          <a:lstStyle/>
          <a:p>
            <a:pPr algn="ctr"/>
            <a:r>
              <a:rPr sz="3000" b="1">
                <a:solidFill>
                  <a:srgbClr val="FFFFFF"/>
                </a:solidFill>
              </a:rPr>
              <a:t>Data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554480"/>
            <a:ext cx="10515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000" b="1">
                <a:solidFill>
                  <a:srgbClr val="EE6C4D"/>
                </a:solidFill>
              </a:rPr>
              <a:t>▸  </a:t>
            </a:r>
            <a:r>
              <a:rPr sz="2000">
                <a:solidFill>
                  <a:srgbClr val="1F2933"/>
                </a:solidFill>
              </a:rPr>
              <a:t>User — admins, couriers, merchants in one table, separated by role.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EE6C4D"/>
                </a:solidFill>
              </a:rPr>
              <a:t>▸  </a:t>
            </a:r>
            <a:r>
              <a:rPr sz="2000">
                <a:solidFill>
                  <a:srgbClr val="1F2933"/>
                </a:solidFill>
              </a:rPr>
              <a:t>Hub — a warehouse with a fleet of couriers.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EE6C4D"/>
                </a:solidFill>
              </a:rPr>
              <a:t>▸  </a:t>
            </a:r>
            <a:r>
              <a:rPr sz="2000">
                <a:solidFill>
                  <a:srgbClr val="1F2933"/>
                </a:solidFill>
              </a:rPr>
              <a:t>Shipment — a parcel with a full lifecycle and coordinates.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EE6C4D"/>
                </a:solidFill>
              </a:rPr>
              <a:t>▸  </a:t>
            </a:r>
            <a:r>
              <a:rPr sz="2000">
                <a:solidFill>
                  <a:srgbClr val="1F2933"/>
                </a:solidFill>
              </a:rPr>
              <a:t>ShipmentEvent — append-only timeline; RouteStop — map geometry + ETA.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/>
          <a:lstStyle/>
          <a:p>
            <a:pPr algn="ctr"/>
            <a:r>
              <a:rPr sz="3000" b="1">
                <a:solidFill>
                  <a:srgbClr val="FFFFFF"/>
                </a:solidFill>
              </a:rPr>
              <a:t>The AI Route Optimiser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554480"/>
            <a:ext cx="10515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000" b="1">
                <a:solidFill>
                  <a:srgbClr val="EE6C4D"/>
                </a:solidFill>
              </a:rPr>
              <a:t>▸  </a:t>
            </a:r>
            <a:r>
              <a:rPr sz="2000">
                <a:solidFill>
                  <a:srgbClr val="1F2933"/>
                </a:solidFill>
              </a:rPr>
              <a:t>Vehicle routing is NP-hard — we decompose it: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EE6C4D"/>
                </a:solidFill>
              </a:rPr>
              <a:t>▸  </a:t>
            </a:r>
            <a:r>
              <a:rPr sz="2000">
                <a:solidFill>
                  <a:srgbClr val="1F2933"/>
                </a:solidFill>
              </a:rPr>
              <a:t>1) k-means clustering decides which courier serves which parcels.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EE6C4D"/>
                </a:solidFill>
              </a:rPr>
              <a:t>▸  </a:t>
            </a:r>
            <a:r>
              <a:rPr sz="2000">
                <a:solidFill>
                  <a:srgbClr val="1F2933"/>
                </a:solidFill>
              </a:rPr>
              <a:t>2) Nearest-neighbour + 2-opt sequence each route (the TSP).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EE6C4D"/>
                </a:solidFill>
              </a:rPr>
              <a:t>▸  </a:t>
            </a:r>
            <a:r>
              <a:rPr sz="2000">
                <a:solidFill>
                  <a:srgbClr val="1F2933"/>
                </a:solidFill>
              </a:rPr>
              <a:t>3) Optional OSMnx + Dijkstra draw real road paths; ETA from speed.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EE6C4D"/>
                </a:solidFill>
              </a:rPr>
              <a:t>▸  </a:t>
            </a:r>
            <a:r>
              <a:rPr sz="2000">
                <a:solidFill>
                  <a:srgbClr val="1F2933"/>
                </a:solidFill>
              </a:rPr>
              <a:t>Pure-Python fallbacks mean it always runs — heavy ML is optional.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/>
          <a:lstStyle/>
          <a:p>
            <a:pPr algn="ctr"/>
            <a:r>
              <a:rPr sz="3000" b="1">
                <a:solidFill>
                  <a:srgbClr val="FFFFFF"/>
                </a:solidFill>
              </a:rPr>
              <a:t>Shipment Lifecycle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554480"/>
            <a:ext cx="10515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000" b="1">
                <a:solidFill>
                  <a:srgbClr val="EE6C4D"/>
                </a:solidFill>
              </a:rPr>
              <a:t>▸  </a:t>
            </a:r>
            <a:r>
              <a:rPr sz="2000">
                <a:solidFill>
                  <a:srgbClr val="1F2933"/>
                </a:solidFill>
              </a:rPr>
              <a:t>pending → at_warehouse → out_for_delivery → delivered.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EE6C4D"/>
                </a:solidFill>
              </a:rPr>
              <a:t>▸  </a:t>
            </a:r>
            <a:r>
              <a:rPr sz="2000">
                <a:solidFill>
                  <a:srgbClr val="1F2933"/>
                </a:solidFill>
              </a:rPr>
              <a:t>Plus failed, returned and cancelled states.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EE6C4D"/>
                </a:solidFill>
              </a:rPr>
              <a:t>▸  </a:t>
            </a:r>
            <a:r>
              <a:rPr sz="2000">
                <a:solidFill>
                  <a:srgbClr val="1F2933"/>
                </a:solidFill>
              </a:rPr>
              <a:t>Every change is recorded as an immutable event.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EE6C4D"/>
                </a:solidFill>
              </a:rPr>
              <a:t>▸  </a:t>
            </a:r>
            <a:r>
              <a:rPr sz="2000">
                <a:solidFill>
                  <a:srgbClr val="1F2933"/>
                </a:solidFill>
              </a:rPr>
              <a:t>The customer-facing timeline is built from these events.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/>
          <a:lstStyle/>
          <a:p>
            <a:pPr algn="ctr"/>
            <a:r>
              <a:rPr sz="3000" b="1">
                <a:solidFill>
                  <a:srgbClr val="FFFFFF"/>
                </a:solidFill>
              </a:rPr>
              <a:t>Difficult Choices &amp; Trade-offs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554480"/>
            <a:ext cx="10515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000" b="1">
                <a:solidFill>
                  <a:srgbClr val="EE6C4D"/>
                </a:solidFill>
              </a:rPr>
              <a:t>▸  </a:t>
            </a:r>
            <a:r>
              <a:rPr sz="2000">
                <a:solidFill>
                  <a:srgbClr val="1F2933"/>
                </a:solidFill>
              </a:rPr>
              <a:t>SQLite vs PostgreSQL → support both via one DATABASE_URL.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EE6C4D"/>
                </a:solidFill>
              </a:rPr>
              <a:t>▸  </a:t>
            </a:r>
            <a:r>
              <a:rPr sz="2000">
                <a:solidFill>
                  <a:srgbClr val="1F2933"/>
                </a:solidFill>
              </a:rPr>
              <a:t>Heavy ML libraries → made optional, never required.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EE6C4D"/>
                </a:solidFill>
              </a:rPr>
              <a:t>▸  </a:t>
            </a:r>
            <a:r>
              <a:rPr sz="2000">
                <a:solidFill>
                  <a:srgbClr val="1F2933"/>
                </a:solidFill>
              </a:rPr>
              <a:t>Global vs project .env → self-contained config (a real bug we fixed).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EE6C4D"/>
                </a:solidFill>
              </a:rPr>
              <a:t>▸  </a:t>
            </a:r>
            <a:r>
              <a:rPr sz="2000">
                <a:solidFill>
                  <a:srgbClr val="1F2933"/>
                </a:solidFill>
              </a:rPr>
              <a:t>Geocoding vs “drop a pin” → map pin + landmark text.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EE6C4D"/>
                </a:solidFill>
              </a:rPr>
              <a:t>▸  </a:t>
            </a:r>
            <a:r>
              <a:rPr sz="2000">
                <a:solidFill>
                  <a:srgbClr val="1F2933"/>
                </a:solidFill>
              </a:rPr>
              <a:t>SPA vs server-rendered → server-rendered, single stack.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/>
          <a:lstStyle/>
          <a:p>
            <a:pPr algn="ctr"/>
            <a:r>
              <a:rPr sz="3000" b="1">
                <a:solidFill>
                  <a:srgbClr val="FFFFFF"/>
                </a:solidFill>
              </a:rPr>
              <a:t>Security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554480"/>
            <a:ext cx="10515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000" b="1">
                <a:solidFill>
                  <a:srgbClr val="EE6C4D"/>
                </a:solidFill>
              </a:rPr>
              <a:t>▸  </a:t>
            </a:r>
            <a:r>
              <a:rPr sz="2000">
                <a:solidFill>
                  <a:srgbClr val="1F2933"/>
                </a:solidFill>
              </a:rPr>
              <a:t>Passwords hashed with Werkzeug (PBKDF2).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EE6C4D"/>
                </a:solidFill>
              </a:rPr>
              <a:t>▸  </a:t>
            </a:r>
            <a:r>
              <a:rPr sz="2000">
                <a:solidFill>
                  <a:srgbClr val="1F2933"/>
                </a:solidFill>
              </a:rPr>
              <a:t>CSRF protection on every browser form.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EE6C4D"/>
                </a:solidFill>
              </a:rPr>
              <a:t>▸  </a:t>
            </a:r>
            <a:r>
              <a:rPr sz="2000">
                <a:solidFill>
                  <a:srgbClr val="1F2933"/>
                </a:solidFill>
              </a:rPr>
              <a:t>Role-based access control via a decorator.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EE6C4D"/>
                </a:solidFill>
              </a:rPr>
              <a:t>▸  </a:t>
            </a:r>
            <a:r>
              <a:rPr sz="2000">
                <a:solidFill>
                  <a:srgbClr val="1F2933"/>
                </a:solidFill>
              </a:rPr>
              <a:t>Server-side validation and open-redirect protection.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/>
          <a:lstStyle/>
          <a:p>
            <a:pPr algn="ctr"/>
            <a:r>
              <a:rPr sz="3000" b="1">
                <a:solidFill>
                  <a:srgbClr val="FFFFFF"/>
                </a:solidFill>
              </a:rPr>
              <a:t>Live Demo 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554480"/>
            <a:ext cx="10515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000" b="1">
                <a:solidFill>
                  <a:srgbClr val="EE6C4D"/>
                </a:solidFill>
              </a:rPr>
              <a:t>▸  </a:t>
            </a:r>
            <a:r>
              <a:rPr sz="2000">
                <a:solidFill>
                  <a:srgbClr val="1F2933"/>
                </a:solidFill>
              </a:rPr>
              <a:t>Merchant creates a shipment by dropping a pin on the map.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EE6C4D"/>
                </a:solidFill>
              </a:rPr>
              <a:t>▸  </a:t>
            </a:r>
            <a:r>
              <a:rPr sz="2000">
                <a:solidFill>
                  <a:srgbClr val="1F2933"/>
                </a:solidFill>
              </a:rPr>
              <a:t>Admin marks it At-Warehouse and runs the optimiser.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EE6C4D"/>
                </a:solidFill>
              </a:rPr>
              <a:t>▸  </a:t>
            </a:r>
            <a:r>
              <a:rPr sz="2000">
                <a:solidFill>
                  <a:srgbClr val="1F2933"/>
                </a:solidFill>
              </a:rPr>
              <a:t>Courier sees the route, delivers, captures proof of delivery.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EE6C4D"/>
                </a:solidFill>
              </a:rPr>
              <a:t>▸  </a:t>
            </a:r>
            <a:r>
              <a:rPr sz="2000">
                <a:solidFill>
                  <a:srgbClr val="1F2933"/>
                </a:solidFill>
              </a:rPr>
              <a:t>Anyone tracks the parcel publicly by its number.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/>
          <a:lstStyle/>
          <a:p>
            <a:pPr algn="ctr"/>
            <a:r>
              <a:rPr sz="3000" b="1">
                <a:solidFill>
                  <a:srgbClr val="FFFFFF"/>
                </a:solidFill>
              </a:rPr>
              <a:t>Testing &amp; Quality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554480"/>
            <a:ext cx="10515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000" b="1">
                <a:solidFill>
                  <a:srgbClr val="EE6C4D"/>
                </a:solidFill>
              </a:rPr>
              <a:t>▸  </a:t>
            </a:r>
            <a:r>
              <a:rPr sz="2000">
                <a:solidFill>
                  <a:srgbClr val="1F2933"/>
                </a:solidFill>
              </a:rPr>
              <a:t>End-to-end tests over the real create → optimise → deliver → track flow.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EE6C4D"/>
                </a:solidFill>
              </a:rPr>
              <a:t>▸  </a:t>
            </a:r>
            <a:r>
              <a:rPr sz="2000">
                <a:solidFill>
                  <a:srgbClr val="1F2933"/>
                </a:solidFill>
              </a:rPr>
              <a:t>Role-protection tests ensure permissions hold.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EE6C4D"/>
                </a:solidFill>
              </a:rPr>
              <a:t>▸  </a:t>
            </a:r>
            <a:r>
              <a:rPr sz="2000">
                <a:solidFill>
                  <a:srgbClr val="1F2933"/>
                </a:solidFill>
              </a:rPr>
              <a:t>Optimiser test verifies routes are assigned and measured.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EE6C4D"/>
                </a:solidFill>
              </a:rPr>
              <a:t>▸  </a:t>
            </a:r>
            <a:r>
              <a:rPr sz="2000">
                <a:solidFill>
                  <a:srgbClr val="1F2933"/>
                </a:solidFill>
              </a:rPr>
              <a:t>All tests pass on the in-memory database.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/>
          <a:lstStyle/>
          <a:p>
            <a:pPr algn="ctr"/>
            <a:r>
              <a:rPr sz="3000" b="1">
                <a:solidFill>
                  <a:srgbClr val="FFFFFF"/>
                </a:solidFill>
              </a:rPr>
              <a:t>Future 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554480"/>
            <a:ext cx="10515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000" b="1">
                <a:solidFill>
                  <a:srgbClr val="EE6C4D"/>
                </a:solidFill>
              </a:rPr>
              <a:t>▸  </a:t>
            </a:r>
            <a:r>
              <a:rPr sz="2000">
                <a:solidFill>
                  <a:srgbClr val="1F2933"/>
                </a:solidFill>
              </a:rPr>
              <a:t>SMS / email notifications on status changes.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EE6C4D"/>
                </a:solidFill>
              </a:rPr>
              <a:t>▸  </a:t>
            </a:r>
            <a:r>
              <a:rPr sz="2000">
                <a:solidFill>
                  <a:srgbClr val="1F2933"/>
                </a:solidFill>
              </a:rPr>
              <a:t>Cash-on-delivery settlement and merchant payouts.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EE6C4D"/>
                </a:solidFill>
              </a:rPr>
              <a:t>▸  </a:t>
            </a:r>
            <a:r>
              <a:rPr sz="2000">
                <a:solidFill>
                  <a:srgbClr val="1F2933"/>
                </a:solidFill>
              </a:rPr>
              <a:t>Live GPS tracking and a native courier mobile app.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EE6C4D"/>
                </a:solidFill>
              </a:rPr>
              <a:t>▸  </a:t>
            </a:r>
            <a:r>
              <a:rPr sz="2000">
                <a:solidFill>
                  <a:srgbClr val="1F2933"/>
                </a:solidFill>
              </a:rPr>
              <a:t>ML-driven demand forecasting and dynamic re-routing.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3B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828800"/>
            <a:ext cx="106984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</a:rPr>
              <a:t>Thank You</a:t>
            </a:r>
          </a:p>
          <a:p>
            <a:pPr algn="ctr">
              <a:spcBef>
                <a:spcPts val="1000"/>
              </a:spcBef>
            </a:pPr>
            <a:r>
              <a:rPr sz="2000">
                <a:solidFill>
                  <a:srgbClr val="CFDDEC"/>
                </a:solidFill>
              </a:rPr>
              <a:t>Questions &amp; discussion.</a:t>
            </a:r>
          </a:p>
          <a:p>
            <a:pPr algn="ctr">
              <a:spcBef>
                <a:spcPts val="1000"/>
              </a:spcBef>
            </a:pPr>
            <a:r>
              <a:rPr sz="2000">
                <a:solidFill>
                  <a:srgbClr val="CFDDEC"/>
                </a:solidFill>
              </a:rPr>
              <a:t>Demo: admin@swiftroute.test / courier1@swiftroute.test / merchant1@swiftroute.test</a:t>
            </a:r>
          </a:p>
          <a:p>
            <a:pPr algn="ctr">
              <a:spcBef>
                <a:spcPts val="1000"/>
              </a:spcBef>
            </a:pPr>
            <a:r>
              <a:rPr sz="2000">
                <a:solidFill>
                  <a:srgbClr val="CFDDEC"/>
                </a:solidFill>
              </a:rPr>
              <a:t>Repository: see the project README.</a:t>
            </a:r>
          </a:p>
        </p:txBody>
      </p:sp>
      <p:sp>
        <p:nvSpPr>
          <p:cNvPr id="3" name="Rectangle 2"/>
          <p:cNvSpPr/>
          <p:nvPr/>
        </p:nvSpPr>
        <p:spPr>
          <a:xfrm>
            <a:off x="4937760" y="1554480"/>
            <a:ext cx="2286000" cy="73152"/>
          </a:xfrm>
          <a:prstGeom prst="rect">
            <a:avLst/>
          </a:prstGeom>
          <a:solidFill>
            <a:srgbClr val="EE6C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