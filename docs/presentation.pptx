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SwiftRoute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AI-Assisted Logistics &amp; Parcel Delivery Platform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Graduation Project — inspired by Bosta &amp; DHL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Built with Python, Flask, SQLAlchemy &amp; Leaflet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1554480"/>
            <a:ext cx="2286000" cy="73152"/>
          </a:xfrm>
          <a:prstGeom prst="rect">
            <a:avLst/>
          </a:prstGeom>
          <a:solidFill>
            <a:srgbClr val="EE6C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E-commerce is booming; last-mile delivery is the bottleneck.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Manual courier dispatch is slow, uneven and error-prone.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Customers expect real-time visibility: “where is my parcel?”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Operations teams lack tools to plan and monitor the fleet.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Project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Deliver a complete, real-world system — not a prototype.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Merchants ship → AI plans routes → couriers deliver → customers track.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Python-first, web-based, and runnable on any machine.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Database-agnostic: SQLite out of the box, PostgreSQL for production.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Inspiration: Bosta &amp; DHL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Bosta: merchant onboarding, cash-on-delivery, status timeline, courier app.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DHL: hub-and-spoke network, tracking numbers, proof of delivery.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We replicate these core ideas at graduation-project scale.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Four actors: Admin, Courier, Merchant, Public customer.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Flow: Hub → Optimise → Courier → Delivery → Tracking.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One Flask application with role-based portals and a JSON API.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Application factory + blueprints (auth, admin, courier, merchant, tracking, api).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SQLAlchemy ORM; SQLite by default, PostgreSQL via one env variable.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Front-end: Jinja2 + Bootstrap 5 + Leaflet maps + Chart.js.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psycopg3 driver for modern Python; Docker Compose for Postgres.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User — admins, couriers, merchants in one table, separated by role.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Hub — a warehouse with a fleet of couriers.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Shipment — a parcel with a full lifecycle and coordinates.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ShipmentEvent — append-only timeline; RouteStop — map geometry + ETA.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The AI Route Optimiser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Vehicle routing is NP-hard — we decompose it: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1) k-means clustering decides which courier serves which parcels.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2) A capacity-aware pass assigns parcels without overloading a vehicle.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3) A selectable technique sequences each route (the TSP sub-problem).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4) OSRM draws real road paths; ETA from distance, speed &amp; traffic.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Pure-Python fallbacks mean it always runs — heavy ML is optional.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Six Optimisation Techniques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FIFO — as received: the baseline to beat.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Nearest Neighbour — fast greedy heuristic.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2-opt — local search removing crossing/expensive edges (default).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Or-opt — adds segment relocation; highest quality.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Christofides (NetworkX) — proven 1.5×-optimal guarantee for metric TSP.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Simulated Annealing (NetworkX) — metaheuristic escaping local optima.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Benchmark: How Much Does It Save?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</a:rPr>
              <a:t>▸  </a:t>
            </a:r>
            <a:r>
              <a:rPr sz="1600">
                <a:solidFill>
                  <a:srgbClr val="1F2933"/>
                </a:solidFill>
              </a:rPr>
              <a:t>Optimised routes cut total distance ~60–62% vs. naive FIFO dispatch.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</a:rPr>
              <a:t>▸  </a:t>
            </a:r>
            <a:r>
              <a:rPr sz="1600">
                <a:solidFill>
                  <a:srgbClr val="1F2933"/>
                </a:solidFill>
              </a:rPr>
              <a:t>40 random scenarios per size × sizes {8, 15, 25, 40}, fixed seed.</a:t>
            </a:r>
          </a:p>
        </p:txBody>
      </p:sp>
      <p:pic>
        <p:nvPicPr>
          <p:cNvPr id="4" name="Picture 3" descr="improvement_by_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563" y="2651760"/>
            <a:ext cx="68275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Benchmark: Optimality &amp; Speed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</a:rPr>
              <a:t>▸  </a:t>
            </a:r>
            <a:r>
              <a:rPr sz="1600">
                <a:solidFill>
                  <a:srgbClr val="1F2933"/>
                </a:solidFill>
              </a:rPr>
              <a:t>On solvable instances, Or-opt is ~0.1% above optimal; 2-opt &amp; SA &lt; 1%.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</a:rPr>
              <a:t>▸  </a:t>
            </a:r>
            <a:r>
              <a:rPr sz="1600">
                <a:solidFill>
                  <a:srgbClr val="1F2933"/>
                </a:solidFill>
              </a:rPr>
              <a:t>2-opt gives the best quality/speed balance; Christofides scales gently.</a:t>
            </a:r>
          </a:p>
        </p:txBody>
      </p:sp>
      <p:pic>
        <p:nvPicPr>
          <p:cNvPr id="4" name="Picture 3" descr="runtime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563" y="2651760"/>
            <a:ext cx="68275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Predictive Intelligence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Explainable ML on numpy / scikit-learn — no GPU, deploys on a free tier.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Five slices: ETA &amp; forecasting, feedback/audit, NLP &amp; assistant, learning-to-route, personas.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Trained on a seeded, reproducible synthetic history (~5.8k deliveries / 180 days).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Guiding principle: every prediction reports its reasoning.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ETA &amp; Late-Risk +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Gradient-boosting models: drop-off time, pickup time, late-risk.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Shared train/serve features; exact additive explanations per prediction.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Validated with 5-fold CV vs naive baselines.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Drop-off MAE 2.75±0.04 (72% better than mean); late-risk CV AUC 0.83.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Demand &amp; Cost Forecasting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White-box SeasonalTrendForecaster: trend + weekly seasonality + 95% band.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Rolling-origin (time-series) CV: orders MAPE ~16% vs ~18.5% seasonal-naive.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Self-explaining: baseline level, growth/day, best/worst weekday, uncertainty.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Handling-Note NLP &amp;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Hybrid tagger (regex lexicon + TF-IDF logistic regression), 10-tag taxonomy.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Extracts delivery time windows and target floor; per-tag token contributions.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Assistant: natural-language Q&amp;A grounded in live data — every answer lists its sources.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Learning-to-Route (Neural Policy)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Pure-numpy pointer policy; REINFORCE with a greedy-rollout baseline.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Best-of-N rollouts: ~5% shorter than nearest-neighbour, ~2% off 2-opt.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Each pick reports its top feature reasons — a modern RL take on routing.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Courier-Behaviour Personas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Mine GPS traces for stops → behavioural features → K-Means personas.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Ranked by productivity; evaluated with silhouette + adjusted Rand index.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Honest caveat: the ground-truth archetypes are synthetic.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Trust: Audit, GIS &amp; Drift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SHA-256 hash-chained chain-of-custody — tamper-detectable handoffs.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GIS geofence confirms delivery at the destination.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Feedback loop: predicted-vs-actual logging, drift trigger, late-risk calibration.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Shipment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pending → at_warehouse → out_for_delivery → delivered.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Plus failed, returned and cancelled states.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Every change is recorded as an immutable event.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The customer-facing timeline is built from these events.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Difficult Choices &amp;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SQLite vs PostgreSQL → support both via one DATABASE_URL.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Heavy ML libraries → optional/light (no torch); models train in seconds.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Synthetic data → reproducible, honestly labelled, validated with CV + baselines.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SPA vs server-rendered → server-rendered, single stack.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Passwords hashed with Werkzeug (PBKDF2).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CSRF protection on every browser form.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Role-based access control via a decorator.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Server-side validation and open-redirect protection.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Live 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Merchant creates a shipment by dropping a pin on the map.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Admin marks it At-Warehouse and runs the optimiser.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Courier sees the route, delivers, captures proof of delivery.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Anyone tracks the parcel publicly; admin explores the AI dashboards.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Testing &amp;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74 automated tests over the real create → optimise → deliver → track flow.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Role-protection tests ensure permissions hold; a test verifies every optimiser technique.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The entire ML layer is tested: ETA/forecast, audit/GIS, NLP/assistant, router, personas.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All tests pass on the in-memory database.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A true capacitated VRP solver (OR-Tools) with time windows.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Validate the predictive models on real operational data.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Live GPS tracking and dynamic re-routing around incidents.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E6C4D"/>
                </a:solidFill>
              </a:rPr>
              <a:t>▸  </a:t>
            </a:r>
            <a:r>
              <a:rPr sz="2000">
                <a:solidFill>
                  <a:srgbClr val="1F2933"/>
                </a:solidFill>
              </a:rPr>
              <a:t>SMS / email notifications and cash-on-delivery settlement.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Thank You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Questions &amp; discussion.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Demo: admin@swiftroute.app / courier1@swiftroute.app / merchant1@swiftroute.app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CFDDEC"/>
                </a:solidFill>
              </a:rPr>
              <a:t>Repository: see the project README.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1554480"/>
            <a:ext cx="2286000" cy="73152"/>
          </a:xfrm>
          <a:prstGeom prst="rect">
            <a:avLst/>
          </a:prstGeom>
          <a:solidFill>
            <a:srgbClr val="EE6C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